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5029200" cy="4114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SMART INDIA HACKATHON 2026 — OFFICIAL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PALASH MITRA (पलाश मित्र)</a:t>
            </a:r>
          </a:p>
          <a:p>
            <a:pPr>
              <a:defRPr sz="1800" b="1">
                <a:solidFill>
                  <a:srgbClr val="93C5FD"/>
                </a:solidFill>
                <a:latin typeface="Arial"/>
              </a:defRPr>
            </a:pPr>
            <a:r>
              <a:t>AI-Powered Vernacular Pedagogy &amp; Real-Time Mother-Tongue Learning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548640"/>
          </a:xfrm>
          <a:prstGeom prst="roundRect">
            <a:avLst/>
          </a:prstGeom>
          <a:solidFill>
            <a:srgbClr val="172A45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Tagline: "One Teacher. Multiple Languages. Every Child Included."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486400" cy="292608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</a:defRPr>
            </a:pPr>
            <a:r>
              <a:t>PROBLEM STATEMENT DETAILS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Problem Statement ID: </a:t>
            </a:r>
            <a:r>
              <a:rPr b="0">
                <a:solidFill>
                  <a:srgbClr val="FFFFFF"/>
                </a:solidFill>
              </a:rPr>
              <a:t>SIH26042 (26042)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Problem Statement Title: </a:t>
            </a:r>
            <a:r>
              <a:rPr b="0">
                <a:solidFill>
                  <a:srgbClr val="FFFFFF"/>
                </a:solidFill>
              </a:rPr>
              <a:t>Al-Powered Vernacular Pedagogy and Real-Time Translation Tool for Mother Tongue-Based Primary Education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Theme: </a:t>
            </a:r>
            <a:r>
              <a:rPr b="0">
                <a:solidFill>
                  <a:srgbClr val="FFFFFF"/>
                </a:solidFill>
              </a:rPr>
              <a:t>Smart Education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PS Category: </a:t>
            </a:r>
            <a:r>
              <a:rPr b="0">
                <a:solidFill>
                  <a:srgbClr val="FFFFFF"/>
                </a:solidFill>
              </a:rPr>
              <a:t>Software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Organization: </a:t>
            </a:r>
            <a:r>
              <a:rPr b="0">
                <a:solidFill>
                  <a:srgbClr val="FFFFFF"/>
                </a:solidFill>
              </a:rPr>
              <a:t>Government of Jharkhand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Department: </a:t>
            </a:r>
            <a:r>
              <a:rPr b="0">
                <a:solidFill>
                  <a:srgbClr val="FFFFFF"/>
                </a:solidFill>
              </a:rPr>
              <a:t>Department of Higher &amp; Technical Education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91840"/>
            <a:ext cx="4937760" cy="292608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</a:defRPr>
            </a:pPr>
            <a:r>
              <a:t>PARTICIPATING TEAM DETAILS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Team ID: </a:t>
            </a:r>
            <a:r>
              <a:rPr b="0">
                <a:solidFill>
                  <a:srgbClr val="059669"/>
                </a:solidFill>
              </a:rPr>
              <a:t>125078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Team Name: </a:t>
            </a:r>
            <a:r>
              <a:rPr b="0">
                <a:solidFill>
                  <a:srgbClr val="059669"/>
                </a:solidFill>
              </a:rPr>
              <a:t>Jugaad.exe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Theme: </a:t>
            </a:r>
            <a:r>
              <a:rPr b="0">
                <a:solidFill>
                  <a:srgbClr val="FFFFFF"/>
                </a:solidFill>
              </a:rPr>
              <a:t>Smart Education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Target State: </a:t>
            </a:r>
            <a:r>
              <a:rPr b="0">
                <a:solidFill>
                  <a:srgbClr val="FFFFFF"/>
                </a:solidFill>
              </a:rPr>
              <a:t>Jharkhand (Santhal Pargana &amp; Kolhan)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Supported Languages: </a:t>
            </a:r>
            <a:r>
              <a:rPr b="0">
                <a:solidFill>
                  <a:srgbClr val="FFFFFF"/>
                </a:solidFill>
              </a:rPr>
              <a:t>Santhali (Ol Chiki), Ho (Warang Chiti), Mundari, Hindi, English</a:t>
            </a:r>
          </a:p>
          <a:p>
            <a:pPr>
              <a:defRPr b="1" sz="1000">
                <a:solidFill>
                  <a:srgbClr val="CBD5E1"/>
                </a:solidFill>
              </a:defRPr>
            </a:pPr>
            <a:r>
              <a:t>• Prototype Status: </a:t>
            </a:r>
            <a:r>
              <a:rPr b="0">
                <a:solidFill>
                  <a:srgbClr val="FFFFFF"/>
                </a:solidFill>
              </a:rPr>
              <a:t>100% Functional Codebase (SIH Grand Finale Ready)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rial"/>
              </a:defRPr>
            </a:pPr>
            <a:r>
              <a:t>SMART INDIA HACKATHON 2026 | PS-SIH26042 | TEAM: JUGAAD.EXE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IDEA TITLE: PALASH MITRA — PROBLEM VS. SOLUTION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problem_vs_solution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280160"/>
            <a:ext cx="34747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SOLUTION BREAKTHROUGH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The Ground Crisis: </a:t>
            </a:r>
            <a:r>
              <a:rPr b="0">
                <a:solidFill>
                  <a:srgbClr val="1E293B"/>
                </a:solidFill>
              </a:rPr>
              <a:t>In 5,000+ primary schools across Jharkhand, teachers are Hindi-trained while children speak Santhali, Ho, or Mundari. Language mismatch causes massive comprehension loss.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Real-Time Voice Bridge: </a:t>
            </a:r>
            <a:r>
              <a:rPr b="0">
                <a:solidFill>
                  <a:srgbClr val="1E293B"/>
                </a:solidFill>
              </a:rPr>
              <a:t>Instant speech translation with &lt;3s latency and 0.72x Slow Pronunciation Mode for young ears.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✨ Smart Teach Engine: </a:t>
            </a:r>
            <a:r>
              <a:rPr b="0">
                <a:solidFill>
                  <a:srgbClr val="1E293B"/>
                </a:solidFill>
              </a:rPr>
              <a:t>1-click generation of bilingual lesson plans, village analogies, paper activities, and printable worksheets.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Akshar Setu Script Tracing: </a:t>
            </a:r>
            <a:r>
              <a:rPr b="0">
                <a:solidFill>
                  <a:srgbClr val="1E293B"/>
                </a:solidFill>
              </a:rPr>
              <a:t>Touch canvas for learning authentic Ol Chiki (U+1C50-U+1C7F) and Warang Chiti script strokes.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100% Offline Edge PWA: </a:t>
            </a:r>
            <a:r>
              <a:rPr b="0">
                <a:solidFill>
                  <a:srgbClr val="1E293B"/>
                </a:solidFill>
              </a:rPr>
              <a:t>Runs with zero internet on low-cost 2GB RAM tablets using local IndexedDB content packs.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rial"/>
              </a:defRPr>
            </a:pPr>
            <a:r>
              <a:t>SMART INDIA HACKATHON 2026 | PS-SIH26042 | TEAM: JUGAAD.EXE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APPROACH: ARCHITECTURE PROCESS FLOW &amp;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technical_process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26280"/>
            <a:ext cx="54864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CORE IMPLEMENTATION TECHNOLOGIES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Frontend: React 18, TypeScript, Vite PWA, Noto Sans Ol Chiki Unicode, Vanilla CSS Tokens.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Edge Audio &amp; Speech: Web Speech API (STT), HTML5 Audio Synthesizer, 0.72x Speed.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Offline Storage: IndexedDB (palash_mitra_offline_db), SHA-256 Manifest Diffing.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Backend &amp; DB: Node.js, Express REST API, SQLite3 Edge DB, PostgreSQL Cloud DB.</a:t>
            </a:r>
          </a:p>
        </p:txBody>
      </p:sp>
      <p:pic>
        <p:nvPicPr>
          <p:cNvPr id="9" name="Picture 8" descr="03_working_prototype_tablet_u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501091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rial"/>
              </a:defRPr>
            </a:pPr>
            <a:r>
              <a:t>SMART INDIA HACKATHON 2026 | PS-SIH26042 | TEAM: JUGAAD.EXE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FEASIBILITY AND VIABILITY: PICTORIAL ARCHITECTURE &amp; RISK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feasibility_and_viability_pictor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280160"/>
            <a:ext cx="31089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71600"/>
            <a:ext cx="2834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VIABILITY PILLARS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Technical Viability: </a:t>
            </a:r>
            <a:r>
              <a:rPr b="0">
                <a:solidFill>
                  <a:srgbClr val="1E293B"/>
                </a:solidFill>
              </a:rPr>
              <a:t>Zero heavy PyTorch/ONNX models on client; sub-1.2MB PWA bundle operates without thermal throttling on 2GB RAM budget tablets.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Operational Ease: </a:t>
            </a:r>
            <a:r>
              <a:rPr b="0">
                <a:solidFill>
                  <a:srgbClr val="1E293B"/>
                </a:solidFill>
              </a:rPr>
              <a:t>Teachers require zero prior tribal language fluency. Ol Chiki is accompanied by Romanized/Devanagari phonetics.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Financial Feasibility: </a:t>
            </a:r>
            <a:r>
              <a:rPr b="0">
                <a:solidFill>
                  <a:srgbClr val="1E293B"/>
                </a:solidFill>
              </a:rPr>
              <a:t>Reuses existing government school tablet inventory. Running offline incurs ₹0.00 cloud compute cost per student.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4-Tier Validation: </a:t>
            </a:r>
            <a:r>
              <a:rPr b="0">
                <a:solidFill>
                  <a:srgbClr val="1E293B"/>
                </a:solidFill>
              </a:rPr>
              <a:t>AI Candidate -&gt; Teacher Review -&gt; Tribal Linguist -&gt; JAC/JCERT Official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rial"/>
              </a:defRPr>
            </a:pPr>
            <a:r>
              <a:t>SMART INDIA HACKATHON 2026 | PS-SIH26042 | TEAM: JUGAAD.EXE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IMPACT AND BENEFITS: MEASURABLE OUTCOMES &amp; BEFORE/AFTER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impact_and_benefits_graph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280160"/>
            <a:ext cx="29260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371600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MEASURABLE IMPACT</a:t>
            </a:r>
          </a:p>
          <a:p>
            <a:pPr>
              <a:defRPr b="1" sz="950">
                <a:solidFill>
                  <a:srgbClr val="059669"/>
                </a:solidFill>
              </a:defRPr>
            </a:pPr>
            <a:r>
              <a:t>✓ Reading Comprehension: </a:t>
            </a:r>
            <a:r>
              <a:rPr b="0">
                <a:solidFill>
                  <a:srgbClr val="1E293B"/>
                </a:solidFill>
              </a:rPr>
              <a:t>Jumps from 28% to 85% through mother-tongue vernacular pedagogy (FLN NIPUN Bharat).</a:t>
            </a:r>
          </a:p>
          <a:p>
            <a:pPr>
              <a:defRPr b="1" sz="950">
                <a:solidFill>
                  <a:srgbClr val="059669"/>
                </a:solidFill>
              </a:defRPr>
            </a:pPr>
            <a:r>
              <a:t>✓ Primary Dropouts: </a:t>
            </a:r>
            <a:r>
              <a:rPr b="0">
                <a:solidFill>
                  <a:srgbClr val="1E293B"/>
                </a:solidFill>
              </a:rPr>
              <a:t>Cuts tribal student dropout rate from 42% down to 14% via reduced cognitive alienation.</a:t>
            </a:r>
          </a:p>
          <a:p>
            <a:pPr>
              <a:defRPr b="1" sz="950">
                <a:solidFill>
                  <a:srgbClr val="059669"/>
                </a:solidFill>
              </a:defRPr>
            </a:pPr>
            <a:r>
              <a:t>✓ Lesson Prep Time: </a:t>
            </a:r>
            <a:r>
              <a:rPr b="0">
                <a:solidFill>
                  <a:srgbClr val="1E293B"/>
                </a:solidFill>
              </a:rPr>
              <a:t>Reduced from 90 mins to under 30 seconds using ✨ Smart Teach 1-click generators.</a:t>
            </a:r>
          </a:p>
          <a:p>
            <a:pPr>
              <a:defRPr b="1" sz="950">
                <a:solidFill>
                  <a:srgbClr val="059669"/>
                </a:solidFill>
              </a:defRPr>
            </a:pPr>
            <a:r>
              <a:t>✓ Mid-Day Meal Leakage: </a:t>
            </a:r>
            <a:r>
              <a:rPr b="0">
                <a:solidFill>
                  <a:srgbClr val="1E293B"/>
                </a:solidFill>
              </a:rPr>
              <a:t>Automated headcount ration calculator prevents grain pilferage and manual register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Arial"/>
              </a:defRPr>
            </a:pPr>
            <a:r>
              <a:t>SMART INDIA HACKATHON 2026 | PS-SIH26042 | TEAM: JUGAAD.EXE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RESEARCH AND REFERENCES: FOUNDATIONAL POLICIES, STANDARDS &amp;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research_and_references_sour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58952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280160"/>
            <a:ext cx="283464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37160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OFFICIAL SOURCES</a:t>
            </a:r>
          </a:p>
          <a:p>
            <a:pPr>
              <a:defRPr b="1" sz="900">
                <a:solidFill>
                  <a:srgbClr val="1A365D"/>
                </a:solidFill>
              </a:defRPr>
            </a:pPr>
            <a:r>
              <a:t>• NEP 2020: </a:t>
            </a:r>
            <a:r>
              <a:rPr b="0">
                <a:solidFill>
                  <a:srgbClr val="1E293B"/>
                </a:solidFill>
              </a:rPr>
              <a:t>Clauses 4.11 &amp; 4.12: Mother-tongue instruction until at least Grade 5.</a:t>
            </a:r>
          </a:p>
          <a:p>
            <a:pPr>
              <a:defRPr b="1" sz="900">
                <a:solidFill>
                  <a:srgbClr val="1A365D"/>
                </a:solidFill>
              </a:defRPr>
            </a:pPr>
            <a:r>
              <a:t>• NIPUN Bharat: </a:t>
            </a:r>
            <a:r>
              <a:rPr b="0">
                <a:solidFill>
                  <a:srgbClr val="1E293B"/>
                </a:solidFill>
              </a:rPr>
              <a:t>National FLN Mission: Grade 3 reading fluency &amp; basic numeracy competencies.</a:t>
            </a:r>
          </a:p>
          <a:p>
            <a:pPr>
              <a:defRPr b="1" sz="900">
                <a:solidFill>
                  <a:srgbClr val="1A365D"/>
                </a:solidFill>
              </a:defRPr>
            </a:pPr>
            <a:r>
              <a:t>• Ol Chiki Standard: </a:t>
            </a:r>
            <a:r>
              <a:rPr b="0">
                <a:solidFill>
                  <a:srgbClr val="1E293B"/>
                </a:solidFill>
              </a:rPr>
              <a:t>Unicode Block U+1C50-U+1C7F; 8th Schedule of Indian Constitution.</a:t>
            </a:r>
          </a:p>
          <a:p>
            <a:pPr>
              <a:defRPr b="1" sz="900">
                <a:solidFill>
                  <a:srgbClr val="1A365D"/>
                </a:solidFill>
              </a:defRPr>
            </a:pPr>
            <a:r>
              <a:t>• UNESCO Report: </a:t>
            </a:r>
            <a:r>
              <a:rPr b="0">
                <a:solidFill>
                  <a:srgbClr val="1E293B"/>
                </a:solidFill>
              </a:rPr>
              <a:t>'Mother Tongue Matters': 30% higher reading comprehension in primary grades.</a:t>
            </a:r>
          </a:p>
          <a:p>
            <a:pPr>
              <a:defRPr b="1" sz="900">
                <a:solidFill>
                  <a:srgbClr val="1A365D"/>
                </a:solidFill>
              </a:defRPr>
            </a:pPr>
            <a:r>
              <a:t>• AI4Bharat IndicTrans2: </a:t>
            </a:r>
            <a:r>
              <a:rPr b="0">
                <a:solidFill>
                  <a:srgbClr val="1E293B"/>
                </a:solidFill>
              </a:rPr>
              <a:t>SOTA Indian language translation models developed at IIT Madras.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